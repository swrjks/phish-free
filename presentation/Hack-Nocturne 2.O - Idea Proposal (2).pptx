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83" r:id="rId6"/>
    <p:sldId id="282" r:id="rId7"/>
    <p:sldId id="258" r:id="rId8"/>
    <p:sldId id="277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7F9"/>
    <a:srgbClr val="2A0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1796AD-F4CE-4BB0-B923-1AF3B0B52ABC}" v="164" dt="2025-11-29T19:55:35.903"/>
    <p1510:client id="{43202F6C-62DD-448F-A034-9127657C3789}" v="221" dt="2025-11-30T18:07:10.327"/>
    <p1510:client id="{9A1674EC-4E12-41EA-AB3C-17B1470A5385}" v="1013" dt="2025-11-29T19:46:19.584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3928" autoAdjust="0"/>
  </p:normalViewPr>
  <p:slideViewPr>
    <p:cSldViewPr showGuides="1">
      <p:cViewPr>
        <p:scale>
          <a:sx n="75" d="100"/>
          <a:sy n="75" d="100"/>
        </p:scale>
        <p:origin x="898" y="139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2/28/2026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2/28/2026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2A063D"/>
                </a:solidFill>
              </a:rPr>
              <a:t>Hack-Nocturne '26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dirty="0"/>
              <a:t>Through the night Ideas take flight</a:t>
            </a:r>
          </a:p>
        </p:txBody>
      </p:sp>
      <p:pic>
        <p:nvPicPr>
          <p:cNvPr id="5" name="Picture 4" descr="A logo with a circle and a white circle with purple letters&#10;&#10;AI-generated content may be incorrect.">
            <a:extLst>
              <a:ext uri="{FF2B5EF4-FFF2-40B4-BE49-F238E27FC236}">
                <a16:creationId xmlns:a16="http://schemas.microsoft.com/office/drawing/2014/main" id="{5EA0AFE0-15B7-6A92-B82E-933FF409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674" y="-1838"/>
            <a:ext cx="1507651" cy="150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30FB4-DBF2-40CE-E65C-BE64FF21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9D745E-0050-984B-FE84-9FF60C9A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00" y="61177"/>
            <a:ext cx="2176745" cy="807031"/>
          </a:xfrm>
        </p:spPr>
        <p:txBody>
          <a:bodyPr>
            <a:normAutofit/>
          </a:bodyPr>
          <a:lstStyle/>
          <a:p>
            <a:r>
              <a:rPr lang="en-US" sz="3200" dirty="0"/>
              <a:t>Your Idea</a:t>
            </a:r>
          </a:p>
        </p:txBody>
      </p:sp>
      <p:pic>
        <p:nvPicPr>
          <p:cNvPr id="4" name="Picture 3" descr="A logo with a circle and a white circle with purple letters&#10;&#10;AI-generated content may be incorrect.">
            <a:extLst>
              <a:ext uri="{FF2B5EF4-FFF2-40B4-BE49-F238E27FC236}">
                <a16:creationId xmlns:a16="http://schemas.microsoft.com/office/drawing/2014/main" id="{C460B273-7CC8-B97E-C378-2D143AB00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674" y="-1838"/>
            <a:ext cx="1507651" cy="1507476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519993-A84D-4232-9686-8A76613C4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890" y="739391"/>
            <a:ext cx="8077200" cy="636430"/>
          </a:xfrm>
        </p:spPr>
        <p:txBody>
          <a:bodyPr>
            <a:normAutofit/>
          </a:bodyPr>
          <a:lstStyle/>
          <a:p>
            <a:r>
              <a:rPr lang="en-IN" sz="1800" b="1" dirty="0"/>
              <a:t>PhishFree</a:t>
            </a:r>
            <a:br>
              <a:rPr lang="en-IN" sz="1800" dirty="0"/>
            </a:br>
            <a:r>
              <a:rPr lang="en-IN" sz="1800" dirty="0"/>
              <a:t>Real-Time Multi-Modal AI Phishing Detection &amp; Prevention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9927988-2DE3-4491-DC23-1C48CE3EE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677" y="4656651"/>
            <a:ext cx="552527" cy="4953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42D274-44B7-A6C6-6896-B91B6A78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853" y="3204471"/>
            <a:ext cx="172799" cy="14598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F59AA3-661F-A264-82D4-F4E687329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593" y="1974650"/>
            <a:ext cx="159574" cy="13235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49CDB9E-BF5C-C5B5-75F1-4020F39A8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408" y="1985233"/>
            <a:ext cx="519283" cy="14836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D33883-4525-5E5D-9203-0C8C12C10837}"/>
              </a:ext>
            </a:extLst>
          </p:cNvPr>
          <p:cNvSpPr/>
          <p:nvPr/>
        </p:nvSpPr>
        <p:spPr>
          <a:xfrm>
            <a:off x="6295559" y="1464810"/>
            <a:ext cx="5598625" cy="320365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BF2F4-1583-17B5-7864-E71440F76FD3}"/>
              </a:ext>
            </a:extLst>
          </p:cNvPr>
          <p:cNvSpPr txBox="1"/>
          <p:nvPr/>
        </p:nvSpPr>
        <p:spPr>
          <a:xfrm>
            <a:off x="6518721" y="1858125"/>
            <a:ext cx="5365985" cy="33239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IN" sz="1600" b="1" dirty="0"/>
              <a:t>Real-Time Multi-Modal Phishing Detection</a:t>
            </a:r>
          </a:p>
          <a:p>
            <a:r>
              <a:rPr lang="en-IN" sz="1600" dirty="0"/>
              <a:t>A browser extension that </a:t>
            </a:r>
            <a:r>
              <a:rPr lang="en-IN" sz="1600" dirty="0" err="1"/>
              <a:t>analyzes</a:t>
            </a:r>
            <a:r>
              <a:rPr lang="en-IN" sz="1600" dirty="0"/>
              <a:t> every webpage using:</a:t>
            </a:r>
          </a:p>
          <a:p>
            <a:r>
              <a:rPr lang="en-IN" sz="1600" b="1" dirty="0"/>
              <a:t>LLM</a:t>
            </a:r>
            <a:r>
              <a:rPr lang="en-IN" sz="1600" dirty="0"/>
              <a:t> → Detects social engineering &amp; malicious intent</a:t>
            </a:r>
          </a:p>
          <a:p>
            <a:r>
              <a:rPr lang="en-IN" sz="1600" b="1" dirty="0"/>
              <a:t>CNN</a:t>
            </a:r>
            <a:r>
              <a:rPr lang="en-IN" sz="1600" dirty="0"/>
              <a:t> → Identifies fake login page cloning</a:t>
            </a:r>
          </a:p>
          <a:p>
            <a:r>
              <a:rPr lang="en-IN" sz="1600" b="1" dirty="0"/>
              <a:t>GNN</a:t>
            </a:r>
            <a:r>
              <a:rPr lang="en-IN" sz="1600" dirty="0"/>
              <a:t> → Maps suspicious domain networks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Multi-model risk fusion for high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Explainable threat breakdown for user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Blockchain-backed tamper-proof verification logs</a:t>
            </a:r>
          </a:p>
          <a:p>
            <a:endParaRPr lang="en-IN" sz="1600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5103C-B327-0D39-74EF-08E81FD4BF8B}"/>
              </a:ext>
            </a:extLst>
          </p:cNvPr>
          <p:cNvSpPr txBox="1"/>
          <p:nvPr/>
        </p:nvSpPr>
        <p:spPr>
          <a:xfrm>
            <a:off x="6599843" y="287733"/>
            <a:ext cx="4295169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sz="1800" dirty="0"/>
              <a:t>Traditional cybersecurity reacts.</a:t>
            </a:r>
            <a:br>
              <a:rPr lang="en-IN" sz="1800" dirty="0"/>
            </a:br>
            <a:r>
              <a:rPr lang="en-IN" sz="1800" dirty="0"/>
              <a:t>Modern phishing adapts in real-time.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C704C-F298-BF50-ECF9-315922EF4398}"/>
              </a:ext>
            </a:extLst>
          </p:cNvPr>
          <p:cNvSpPr txBox="1"/>
          <p:nvPr/>
        </p:nvSpPr>
        <p:spPr>
          <a:xfrm>
            <a:off x="6581690" y="1553063"/>
            <a:ext cx="162982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Our Solution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F11707-667B-5397-E465-DC3AFD16171A}"/>
              </a:ext>
            </a:extLst>
          </p:cNvPr>
          <p:cNvSpPr/>
          <p:nvPr/>
        </p:nvSpPr>
        <p:spPr>
          <a:xfrm>
            <a:off x="6323240" y="4881033"/>
            <a:ext cx="5312495" cy="18245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540826-B410-6178-295C-AF6630D3BA3C}"/>
              </a:ext>
            </a:extLst>
          </p:cNvPr>
          <p:cNvSpPr txBox="1"/>
          <p:nvPr/>
        </p:nvSpPr>
        <p:spPr>
          <a:xfrm>
            <a:off x="6420173" y="4904335"/>
            <a:ext cx="4883166" cy="21236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US" sz="1600" b="1" dirty="0"/>
              <a:t>What Makes It Unique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it-IT" sz="1600" dirty="0"/>
              <a:t>True multi-modal AI (Text + Visual + Domain Graph)</a:t>
            </a: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Live detection before credential </a:t>
            </a:r>
            <a:r>
              <a:rPr lang="en-IN" sz="1600" dirty="0"/>
              <a:t>submission</a:t>
            </a:r>
            <a:endParaRPr lang="en-US" sz="16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/>
              <a:t>Explainable threat breakdown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On-chain verification for forensic trust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212D0A5-00BE-8D4C-69C6-9DC0538A379F}"/>
              </a:ext>
            </a:extLst>
          </p:cNvPr>
          <p:cNvSpPr/>
          <p:nvPr/>
        </p:nvSpPr>
        <p:spPr>
          <a:xfrm>
            <a:off x="273176" y="1375821"/>
            <a:ext cx="5696202" cy="50062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7CB5A-1BC0-F4E6-EC2B-9DFDF8E44034}"/>
              </a:ext>
            </a:extLst>
          </p:cNvPr>
          <p:cNvSpPr txBox="1"/>
          <p:nvPr/>
        </p:nvSpPr>
        <p:spPr>
          <a:xfrm>
            <a:off x="338748" y="2077746"/>
            <a:ext cx="5444489" cy="4031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pPr algn="just"/>
            <a:r>
              <a:rPr lang="en-IN" sz="1600" b="1" dirty="0"/>
              <a:t>The Web is No Longer Human - It’s AI vs AI</a:t>
            </a:r>
          </a:p>
          <a:p>
            <a:pPr algn="just"/>
            <a:endParaRPr lang="en-IN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Phishing has evolved into </a:t>
            </a:r>
            <a:r>
              <a:rPr lang="en-IN" sz="1600" b="1" dirty="0"/>
              <a:t>AI-generated, hyper-personalized attacks</a:t>
            </a:r>
            <a:r>
              <a:rPr lang="en-IN" sz="1600" dirty="0"/>
              <a:t> that bypass traditional filters.</a:t>
            </a:r>
            <a:br>
              <a:rPr lang="en-IN" sz="1600" dirty="0"/>
            </a:br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Zero-day domains and fast-flux infrastructure render </a:t>
            </a:r>
            <a:r>
              <a:rPr lang="en-IN" sz="1600" b="1" dirty="0"/>
              <a:t>blacklist-based detection obsolete</a:t>
            </a:r>
            <a:r>
              <a:rPr lang="en-IN" sz="1600" dirty="0"/>
              <a:t>.</a:t>
            </a:r>
            <a:br>
              <a:rPr lang="en-IN" sz="1600" dirty="0"/>
            </a:br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Attackers replicate </a:t>
            </a:r>
            <a:r>
              <a:rPr lang="en-IN" sz="1600" b="1" dirty="0"/>
              <a:t>pixel-perfect login pages</a:t>
            </a:r>
            <a:r>
              <a:rPr lang="en-IN" sz="1600" dirty="0"/>
              <a:t>, defeating text-only scanners.</a:t>
            </a:r>
          </a:p>
          <a:p>
            <a:pPr algn="just"/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Users are forced to trust “red/green warnings” without understanding </a:t>
            </a:r>
            <a:r>
              <a:rPr lang="en-IN" sz="1600" i="1" dirty="0"/>
              <a:t>why</a:t>
            </a:r>
            <a:r>
              <a:rPr lang="en-IN" sz="1600" dirty="0"/>
              <a:t> a site is dangerous.</a:t>
            </a:r>
            <a:br>
              <a:rPr lang="en-IN" sz="1600" dirty="0"/>
            </a:br>
            <a:endParaRPr lang="en-IN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Enterprises lack </a:t>
            </a:r>
            <a:r>
              <a:rPr lang="en-IN" sz="1600" b="1" dirty="0"/>
              <a:t>tamper-proof forensic trails</a:t>
            </a:r>
            <a:r>
              <a:rPr lang="en-IN" sz="1600" dirty="0"/>
              <a:t> for post-attack investigation.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744BCC-59A4-D6CD-E899-E7599CFC4BB5}"/>
              </a:ext>
            </a:extLst>
          </p:cNvPr>
          <p:cNvSpPr txBox="1"/>
          <p:nvPr/>
        </p:nvSpPr>
        <p:spPr>
          <a:xfrm>
            <a:off x="329578" y="1660109"/>
            <a:ext cx="159913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pPr algn="just"/>
            <a:r>
              <a:rPr lang="en-IN" b="1" dirty="0"/>
              <a:t>Problem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33348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817" y="694221"/>
            <a:ext cx="4696454" cy="449456"/>
          </a:xfrm>
        </p:spPr>
        <p:txBody>
          <a:bodyPr anchor="b">
            <a:normAutofit/>
          </a:bodyPr>
          <a:lstStyle/>
          <a:p>
            <a:r>
              <a:rPr lang="en-US" sz="2000" dirty="0"/>
              <a:t>Why should we select you?</a:t>
            </a:r>
            <a:endParaRPr lang="en-US" dirty="0"/>
          </a:p>
        </p:txBody>
      </p:sp>
      <p:pic>
        <p:nvPicPr>
          <p:cNvPr id="5" name="Picture Placeholder 4" descr="A group of people around a table with laptops and signs&#10;&#10;AI-generated content may be incorrect.">
            <a:extLst>
              <a:ext uri="{FF2B5EF4-FFF2-40B4-BE49-F238E27FC236}">
                <a16:creationId xmlns:a16="http://schemas.microsoft.com/office/drawing/2014/main" id="{61B567AF-A8C3-9FC8-1044-F2096A9EDB6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3376" b="3376"/>
          <a:stretch/>
        </p:blipFill>
        <p:spPr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8AF0A4-21C9-D92B-A414-277EB551DDFE}"/>
              </a:ext>
            </a:extLst>
          </p:cNvPr>
          <p:cNvSpPr/>
          <p:nvPr/>
        </p:nvSpPr>
        <p:spPr>
          <a:xfrm>
            <a:off x="519849" y="1295400"/>
            <a:ext cx="5352038" cy="502628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We are highly interested in addressing real-world cybersecurity challenges, particularly in addressing phishing attacks caused by AI-based phishing attacks.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We are aware of how to design multi-layered systems, including how to incorporate AI models, backend APIs, browser integrations, and security considerations.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We are interested in building a scalable and interpretable phishing detection system, not just a classifier.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We are interested in exploring how multi-modal AI can greatly benefit the accuracy of phishing attacks.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This hackathon is a great opportunity to test our concept in a competitive environment.</a:t>
            </a:r>
          </a:p>
          <a:p>
            <a:endParaRPr lang="en-US" sz="1400" dirty="0">
              <a:ea typeface="+mn-lt"/>
              <a:cs typeface="+mn-lt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We are highly interested in building a technically robust and feasible system.</a:t>
            </a:r>
          </a:p>
          <a:p>
            <a:pPr algn="just"/>
            <a:br>
              <a:rPr lang="en-US" sz="1400" dirty="0">
                <a:ea typeface="+mn-lt"/>
                <a:cs typeface="+mn-lt"/>
              </a:rPr>
            </a:br>
            <a:r>
              <a:rPr lang="en-US" sz="1400" dirty="0"/>
              <a:t>Hack Nocturne gives us the perfect stage to transform this research-driven concept into a real-world cybersecurity solution.</a:t>
            </a:r>
          </a:p>
        </p:txBody>
      </p:sp>
      <p:pic>
        <p:nvPicPr>
          <p:cNvPr id="7" name="Picture 6" descr="A logo with a circle and a white circle with purple letters&#10;&#10;AI-generated content may be incorrect.">
            <a:extLst>
              <a:ext uri="{FF2B5EF4-FFF2-40B4-BE49-F238E27FC236}">
                <a16:creationId xmlns:a16="http://schemas.microsoft.com/office/drawing/2014/main" id="{1556411E-BDD8-357B-6C8E-261AF639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674" y="-1838"/>
            <a:ext cx="1507651" cy="150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2075" y="326990"/>
            <a:ext cx="10063128" cy="563696"/>
          </a:xfrm>
        </p:spPr>
        <p:txBody>
          <a:bodyPr anchor="t">
            <a:normAutofit/>
          </a:bodyPr>
          <a:lstStyle/>
          <a:p>
            <a:r>
              <a:rPr lang="en-US"/>
              <a:t>Tech-Stack &amp; Platforms You Mostly Build 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72C3C-3EFB-2F12-7C3B-AE84C9791864}"/>
              </a:ext>
            </a:extLst>
          </p:cNvPr>
          <p:cNvSpPr/>
          <p:nvPr/>
        </p:nvSpPr>
        <p:spPr>
          <a:xfrm>
            <a:off x="1304245" y="889907"/>
            <a:ext cx="5030719" cy="26006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/>
              <a:t>Frontend / Backend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B79E73-2256-F305-65F9-40B9769D446F}"/>
              </a:ext>
            </a:extLst>
          </p:cNvPr>
          <p:cNvSpPr/>
          <p:nvPr/>
        </p:nvSpPr>
        <p:spPr>
          <a:xfrm>
            <a:off x="6513353" y="889906"/>
            <a:ext cx="5030719" cy="26006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600" dirty="0"/>
              <a:t>AI &amp; ML Stack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6847A2-EB46-E4AB-144E-186482222EF2}"/>
              </a:ext>
            </a:extLst>
          </p:cNvPr>
          <p:cNvSpPr/>
          <p:nvPr/>
        </p:nvSpPr>
        <p:spPr>
          <a:xfrm>
            <a:off x="1304963" y="3640641"/>
            <a:ext cx="5040138" cy="26006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600" dirty="0"/>
              <a:t>Cloud / DevOps /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92FE0B-F09E-EF6B-2DD4-129909B5CD53}"/>
              </a:ext>
            </a:extLst>
          </p:cNvPr>
          <p:cNvSpPr/>
          <p:nvPr/>
        </p:nvSpPr>
        <p:spPr>
          <a:xfrm>
            <a:off x="6514071" y="3640640"/>
            <a:ext cx="5040138" cy="26006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r>
              <a:rPr lang="en-US" sz="1600" dirty="0"/>
              <a:t>Blockchain &amp; Web3 / Cybersecurity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3F459D-C68D-9C2C-3B11-F228E5E32D08}"/>
              </a:ext>
            </a:extLst>
          </p:cNvPr>
          <p:cNvSpPr txBox="1"/>
          <p:nvPr/>
        </p:nvSpPr>
        <p:spPr>
          <a:xfrm>
            <a:off x="1304519" y="6392368"/>
            <a:ext cx="8699710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Leave fields </a:t>
            </a:r>
            <a:r>
              <a:rPr lang="en-US" sz="1400" b="1" dirty="0"/>
              <a:t>blank</a:t>
            </a:r>
            <a:r>
              <a:rPr lang="en-US" sz="1400" dirty="0"/>
              <a:t> where </a:t>
            </a:r>
            <a:r>
              <a:rPr lang="en-US" sz="1400" b="1" dirty="0"/>
              <a:t>not applicable</a:t>
            </a:r>
            <a:r>
              <a:rPr lang="en-US" sz="1400" dirty="0"/>
              <a:t>, you can put </a:t>
            </a:r>
            <a:r>
              <a:rPr lang="en-US" sz="1400" b="1" dirty="0"/>
              <a:t>logos</a:t>
            </a:r>
            <a:r>
              <a:rPr lang="en-US" sz="1400" dirty="0"/>
              <a:t> of tech stacks in the provided space</a:t>
            </a:r>
          </a:p>
        </p:txBody>
      </p:sp>
      <p:pic>
        <p:nvPicPr>
          <p:cNvPr id="4" name="Picture 3" descr="A logo with a circle and a white circle with purple letters&#10;&#10;AI-generated content may be incorrect.">
            <a:extLst>
              <a:ext uri="{FF2B5EF4-FFF2-40B4-BE49-F238E27FC236}">
                <a16:creationId xmlns:a16="http://schemas.microsoft.com/office/drawing/2014/main" id="{31BDE1F5-8A6F-7997-FAC1-16A3B08C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674" y="-1838"/>
            <a:ext cx="1507651" cy="1507476"/>
          </a:xfrm>
          <a:prstGeom prst="rect">
            <a:avLst/>
          </a:prstGeom>
        </p:spPr>
      </p:pic>
      <p:pic>
        <p:nvPicPr>
          <p:cNvPr id="1026" name="Picture 2" descr="HTML - Wikipedia">
            <a:extLst>
              <a:ext uri="{FF2B5EF4-FFF2-40B4-BE49-F238E27FC236}">
                <a16:creationId xmlns:a16="http://schemas.microsoft.com/office/drawing/2014/main" id="{FB7305F3-E336-CA0C-411F-8457C82F4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75" y="1245401"/>
            <a:ext cx="756197" cy="75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s-logo – GLE Construction And Development">
            <a:extLst>
              <a:ext uri="{FF2B5EF4-FFF2-40B4-BE49-F238E27FC236}">
                <a16:creationId xmlns:a16="http://schemas.microsoft.com/office/drawing/2014/main" id="{A98DCCB2-86BC-8C0C-6379-67192A665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442" y="1268476"/>
            <a:ext cx="756197" cy="756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C7BF347-C7C9-B65C-9583-240644492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268" y="1453602"/>
            <a:ext cx="921487" cy="56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rowsers Effected By Google Manifest V3 - Lipani Security LLC">
            <a:extLst>
              <a:ext uri="{FF2B5EF4-FFF2-40B4-BE49-F238E27FC236}">
                <a16:creationId xmlns:a16="http://schemas.microsoft.com/office/drawing/2014/main" id="{EB7492B5-4EBE-7E2A-A52F-EC583A278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838" y="2300594"/>
            <a:ext cx="1016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ogging in Python: A Developer's Guide | Sentry">
            <a:extLst>
              <a:ext uri="{FF2B5EF4-FFF2-40B4-BE49-F238E27FC236}">
                <a16:creationId xmlns:a16="http://schemas.microsoft.com/office/drawing/2014/main" id="{AF632117-1601-21F8-3B1E-48C43756A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75" y="2190225"/>
            <a:ext cx="1172834" cy="117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Flask SVG and transparent PNG icons | TechIcons">
            <a:extLst>
              <a:ext uri="{FF2B5EF4-FFF2-40B4-BE49-F238E27FC236}">
                <a16:creationId xmlns:a16="http://schemas.microsoft.com/office/drawing/2014/main" id="{07B61C44-4ACB-5BF5-62E8-120A5D8A4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158" y="2364894"/>
            <a:ext cx="842962" cy="84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Kanchan Jeswani ...">
            <a:extLst>
              <a:ext uri="{FF2B5EF4-FFF2-40B4-BE49-F238E27FC236}">
                <a16:creationId xmlns:a16="http://schemas.microsoft.com/office/drawing/2014/main" id="{E90890D2-E8A6-096A-A34C-3388FB75E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611" y="1453602"/>
            <a:ext cx="1227093" cy="79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ugging Face Transformers APIs | Niklas ...">
            <a:extLst>
              <a:ext uri="{FF2B5EF4-FFF2-40B4-BE49-F238E27FC236}">
                <a16:creationId xmlns:a16="http://schemas.microsoft.com/office/drawing/2014/main" id="{257D8ADA-6680-8431-F819-F582C90CF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41" t="20910" r="21242" b="36533"/>
          <a:stretch>
            <a:fillRect/>
          </a:stretch>
        </p:blipFill>
        <p:spPr bwMode="auto">
          <a:xfrm>
            <a:off x="6603958" y="2399768"/>
            <a:ext cx="1261746" cy="66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2" descr="LightGBM (Light Gradient Boosting Machine) - GeeksforGeeks">
            <a:extLst>
              <a:ext uri="{FF2B5EF4-FFF2-40B4-BE49-F238E27FC236}">
                <a16:creationId xmlns:a16="http://schemas.microsoft.com/office/drawing/2014/main" id="{FDF808C8-0E43-91DD-4C45-6C6AF9C8EC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52" name="Picture 28" descr="Docker Icon SVG Vector &amp; PNG Free ...">
            <a:extLst>
              <a:ext uri="{FF2B5EF4-FFF2-40B4-BE49-F238E27FC236}">
                <a16:creationId xmlns:a16="http://schemas.microsoft.com/office/drawing/2014/main" id="{1AA8690A-8CA8-542D-5B1F-42EF07F2B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571" y="405346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GitHub - Wikipedia">
            <a:extLst>
              <a:ext uri="{FF2B5EF4-FFF2-40B4-BE49-F238E27FC236}">
                <a16:creationId xmlns:a16="http://schemas.microsoft.com/office/drawing/2014/main" id="{50C9B44B-8BD2-392D-3BAC-909536D35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501" y="5058717"/>
            <a:ext cx="914400" cy="914400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Ethereum Sepolia Faucet">
            <a:extLst>
              <a:ext uri="{FF2B5EF4-FFF2-40B4-BE49-F238E27FC236}">
                <a16:creationId xmlns:a16="http://schemas.microsoft.com/office/drawing/2014/main" id="{2BBC567A-FB40-A818-6662-6EC466D71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320" y="4171164"/>
            <a:ext cx="1010017" cy="1010017"/>
          </a:xfrm>
          <a:prstGeom prst="flowChartConnector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B959E6-47EA-BC6E-078C-2E23CA3F0922}"/>
              </a:ext>
            </a:extLst>
          </p:cNvPr>
          <p:cNvSpPr txBox="1"/>
          <p:nvPr/>
        </p:nvSpPr>
        <p:spPr>
          <a:xfrm>
            <a:off x="4485444" y="1056797"/>
            <a:ext cx="1761370" cy="24929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IN" sz="1200" b="1" dirty="0"/>
              <a:t>Frontend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HTML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JavaScript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Tailwind CSS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Chrome Extension (Manifest V3)</a:t>
            </a:r>
          </a:p>
          <a:p>
            <a:r>
              <a:rPr lang="en-IN" sz="1200" b="1" dirty="0"/>
              <a:t>Backend</a:t>
            </a: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Python 3.10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Flask REST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Flask-CORS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Modular ML inference pipeline</a:t>
            </a:r>
          </a:p>
          <a:p>
            <a:endParaRPr lang="en-IN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500E1C-05AC-B959-0DBA-F9F7A2A7EB27}"/>
              </a:ext>
            </a:extLst>
          </p:cNvPr>
          <p:cNvSpPr txBox="1"/>
          <p:nvPr/>
        </p:nvSpPr>
        <p:spPr>
          <a:xfrm>
            <a:off x="8019854" y="1125880"/>
            <a:ext cx="3438237" cy="24314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HuggingFace</a:t>
            </a:r>
            <a:r>
              <a:rPr lang="en-IN" sz="1400" dirty="0"/>
              <a:t> Transformers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RoBERTa</a:t>
            </a:r>
            <a:r>
              <a:rPr lang="en-IN" sz="1400" dirty="0"/>
              <a:t> (Phishing </a:t>
            </a:r>
            <a:r>
              <a:rPr lang="en-IN" sz="1400"/>
              <a:t>language detection)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CLIP + MLP Head (Visual spoof detection)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GraphSAGE</a:t>
            </a:r>
            <a:r>
              <a:rPr lang="en-IN" sz="1400" dirty="0"/>
              <a:t>(Domain relationship modelling)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PyTorch</a:t>
            </a:r>
            <a:r>
              <a:rPr lang="en-IN" sz="1400" dirty="0"/>
              <a:t> Geometric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LightGBM</a:t>
            </a:r>
            <a:r>
              <a:rPr lang="en-IN" sz="1400" dirty="0"/>
              <a:t> (Ensemble risk scoring)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F058F2-0033-C171-8D4A-3CE98EE21317}"/>
              </a:ext>
            </a:extLst>
          </p:cNvPr>
          <p:cNvSpPr txBox="1"/>
          <p:nvPr/>
        </p:nvSpPr>
        <p:spPr>
          <a:xfrm>
            <a:off x="2418280" y="4026412"/>
            <a:ext cx="2868093" cy="11695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Docker &amp; Docker Compose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REST API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Rate limiting &amp;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CSV report export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462DF5-C3C4-ED84-10DF-61D9AF6EA457}"/>
              </a:ext>
            </a:extLst>
          </p:cNvPr>
          <p:cNvSpPr txBox="1"/>
          <p:nvPr/>
        </p:nvSpPr>
        <p:spPr>
          <a:xfrm>
            <a:off x="7757685" y="4171164"/>
            <a:ext cx="3126177" cy="11695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 anchor="ctr" anchorCtr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Wev3.py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Ethereum </a:t>
            </a:r>
            <a:r>
              <a:rPr lang="en-IN" sz="1400" dirty="0" err="1"/>
              <a:t>Sepolia</a:t>
            </a:r>
            <a:r>
              <a:rPr lang="en-IN" sz="1400" dirty="0"/>
              <a:t> </a:t>
            </a:r>
            <a:r>
              <a:rPr lang="en-IN" sz="1400" dirty="0" err="1"/>
              <a:t>Testnet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Immutable analysis anchoring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Domain intelligence 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Risk scoring engine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E5B5B7-8257-960A-009C-9FEC56EE88A9}"/>
              </a:ext>
            </a:extLst>
          </p:cNvPr>
          <p:cNvSpPr/>
          <p:nvPr/>
        </p:nvSpPr>
        <p:spPr>
          <a:xfrm>
            <a:off x="303212" y="4267200"/>
            <a:ext cx="3687417" cy="236220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Team – Fourage</a:t>
            </a:r>
          </a:p>
          <a:p>
            <a:pPr>
              <a:lnSpc>
                <a:spcPct val="150000"/>
              </a:lnSpc>
            </a:pPr>
            <a:r>
              <a:rPr lang="en-US" dirty="0"/>
              <a:t>Member 1 – Siona Raj</a:t>
            </a:r>
          </a:p>
          <a:p>
            <a:pPr>
              <a:lnSpc>
                <a:spcPct val="150000"/>
              </a:lnSpc>
            </a:pPr>
            <a:r>
              <a:rPr lang="en-US" dirty="0"/>
              <a:t>Member 2 – Sahil Pradhan</a:t>
            </a:r>
          </a:p>
          <a:p>
            <a:pPr>
              <a:lnSpc>
                <a:spcPct val="150000"/>
              </a:lnSpc>
            </a:pPr>
            <a:r>
              <a:rPr lang="en-US" dirty="0"/>
              <a:t>Member 3 – Sohan B</a:t>
            </a:r>
          </a:p>
          <a:p>
            <a:pPr>
              <a:lnSpc>
                <a:spcPct val="150000"/>
              </a:lnSpc>
            </a:pPr>
            <a:r>
              <a:rPr lang="en-US" dirty="0"/>
              <a:t>Member 4 – Swaraj Kumar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 sz="32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/>
              <a:t>Good Luck 👍</a:t>
            </a:r>
          </a:p>
          <a:p>
            <a:r>
              <a:rPr lang="en-US"/>
              <a:t>Team </a:t>
            </a:r>
            <a:r>
              <a:rPr lang="en-US" b="1"/>
              <a:t>Hack-Nocturne</a:t>
            </a:r>
            <a:endParaRPr lang="en-US"/>
          </a:p>
          <a:p>
            <a:r>
              <a:rPr lang="en-US">
                <a:solidFill>
                  <a:schemeClr val="bg2">
                    <a:lumMod val="25000"/>
                  </a:schemeClr>
                </a:solidFill>
              </a:rPr>
              <a:t>contact@hack-nocturne.in</a:t>
            </a:r>
          </a:p>
          <a:p>
            <a:r>
              <a:rPr lang="en-US"/>
              <a:t>https://hack-nocturne.in/</a:t>
            </a:r>
            <a:endParaRPr lang="en-US" dirty="0"/>
          </a:p>
        </p:txBody>
      </p:sp>
      <p:pic>
        <p:nvPicPr>
          <p:cNvPr id="5" name="Picture 4" descr="A logo with a circle and a white circle with purple letters&#10;&#10;AI-generated content may be incorrect.">
            <a:extLst>
              <a:ext uri="{FF2B5EF4-FFF2-40B4-BE49-F238E27FC236}">
                <a16:creationId xmlns:a16="http://schemas.microsoft.com/office/drawing/2014/main" id="{2EED1E76-F2F0-E0A3-C41F-69F2814E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674" y="-1838"/>
            <a:ext cx="1507651" cy="150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490</Words>
  <Application>Microsoft Office PowerPoint</Application>
  <PresentationFormat>Custom</PresentationFormat>
  <Paragraphs>87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Courier New</vt:lpstr>
      <vt:lpstr>Palatino Linotype</vt:lpstr>
      <vt:lpstr>Custom</vt:lpstr>
      <vt:lpstr>Hack-Nocturne '26</vt:lpstr>
      <vt:lpstr>Your Idea</vt:lpstr>
      <vt:lpstr>Why should we select you?</vt:lpstr>
      <vt:lpstr>Tech-Stack &amp; Platforms You Mostly Build 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Swaraj Kumar Sahu</cp:lastModifiedBy>
  <cp:revision>399</cp:revision>
  <dcterms:created xsi:type="dcterms:W3CDTF">2025-11-29T18:31:14Z</dcterms:created>
  <dcterms:modified xsi:type="dcterms:W3CDTF">2026-02-28T04:45:42Z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